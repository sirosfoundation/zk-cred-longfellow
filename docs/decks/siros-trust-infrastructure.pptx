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artefacts, one story: g119612 is the engine, trust-lists is the governed source of truth, trust.siros.org is the published, signed output that wallets and verifiers consume.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EUDI ecosystem is mid-migration: XML TSLs exist today, JSON LoTEs are where it is heading. Supporting both, and converting between them, is the point.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Clean separation: code, data, output. Each has its own release and review cadence.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Deliberately unopinionated about caching and availability — fetch from a CDN, the library stays reentrant.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pipeline abstraction is what lets trust-lists stay pure data: each directory carries its own .pipeline.yaml.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governance claim is the real product here — the file format is incidental, the review trail is not.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Signing mode is a repository variable, so promoting from dev to hardware is a configuration change, not a code change.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mix is deliberate: demo schemes to exercise the tooling, plus real interop targets like EWC and multipaz.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Worth stressing that steps 4 and 5 are the same code contributors run locally — no bespoke publishing machinery.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reuse: the invitation is for other schemes to run the same pipeline rather than to depend on ours.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iros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59975" y="310896"/>
            <a:ext cx="1691640" cy="564185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8732520" y="1874520"/>
            <a:ext cx="3200400" cy="3200400"/>
          </a:xfrm>
          <a:prstGeom prst="ellipse">
            <a:avLst/>
          </a:prstGeom>
          <a:solidFill>
            <a:srgbClr val="EDF2F9"/>
          </a:solidFill>
          <a:ln w="12700">
            <a:solidFill>
              <a:srgbClr val="EDF2F9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601200" y="2743200"/>
            <a:ext cx="1463040" cy="1463040"/>
          </a:xfrm>
          <a:prstGeom prst="ellipse">
            <a:avLst/>
          </a:prstGeom>
          <a:solidFill>
            <a:srgbClr val="1C4587"/>
          </a:solidFill>
          <a:ln w="12700">
            <a:solidFill>
              <a:srgbClr val="1C4587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640080" y="1572768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40" kern="0" dirty="0">
                <a:solidFill>
                  <a:srgbClr val="C276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Trust Infrastructure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640080" y="1956816"/>
            <a:ext cx="7772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4400" b="1" dirty="0">
                <a:solidFill>
                  <a:srgbClr val="1C458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Trust Lists for the</a:t>
            </a:r>
            <a:endParaRPr lang="en-US" sz="44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4400" b="1" dirty="0">
                <a:solidFill>
                  <a:srgbClr val="1C458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EUDI Wallet Ecosystem</a:t>
            </a:r>
            <a:endParaRPr lang="en-US" sz="4400" dirty="0"/>
          </a:p>
        </p:txBody>
      </p:sp>
      <p:sp>
        <p:nvSpPr>
          <p:cNvPr id="7" name="Text 4"/>
          <p:cNvSpPr/>
          <p:nvPr/>
        </p:nvSpPr>
        <p:spPr>
          <a:xfrm>
            <a:off x="640080" y="3584448"/>
            <a:ext cx="7406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56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Standards-based, PR-governed and HSM-signed trust anchors — from source data in Git to signed ETSI documents on the public web.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640080" y="4517136"/>
            <a:ext cx="2286000" cy="822960"/>
          </a:xfrm>
          <a:prstGeom prst="roundRect">
            <a:avLst>
              <a:gd name="adj" fmla="val 10000"/>
            </a:avLst>
          </a:prstGeom>
          <a:solidFill>
            <a:srgbClr val="EDF2F9"/>
          </a:solidFill>
          <a:ln w="12700">
            <a:solidFill>
              <a:srgbClr val="EDF2F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41248" y="4626864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45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g119612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841248" y="4901184"/>
            <a:ext cx="1965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Library + tsl-tool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3127248" y="4517136"/>
            <a:ext cx="2286000" cy="822960"/>
          </a:xfrm>
          <a:prstGeom prst="roundRect">
            <a:avLst>
              <a:gd name="adj" fmla="val 10000"/>
            </a:avLst>
          </a:prstGeom>
          <a:solidFill>
            <a:srgbClr val="EDF2F9"/>
          </a:solidFill>
          <a:ln w="12700">
            <a:solidFill>
              <a:srgbClr val="EDF2F9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3328416" y="4626864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45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trust-lists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3328416" y="4901184"/>
            <a:ext cx="1965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data + CI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5614416" y="4517136"/>
            <a:ext cx="2286000" cy="822960"/>
          </a:xfrm>
          <a:prstGeom prst="roundRect">
            <a:avLst>
              <a:gd name="adj" fmla="val 10000"/>
            </a:avLst>
          </a:prstGeom>
          <a:solidFill>
            <a:srgbClr val="EDF2F9"/>
          </a:solidFill>
          <a:ln w="12700">
            <a:solidFill>
              <a:srgbClr val="EDF2F9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815584" y="4626864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45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trust.siros.org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5815584" y="4901184"/>
            <a:ext cx="1965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Published lists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640080" y="6199632"/>
            <a:ext cx="877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SIROS Foundation  ·  ETSI TS 119 612  ·  ETSI TS 119 602  ·  BSD-2-Clause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iros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59975" y="310896"/>
            <a:ext cx="1691640" cy="564185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384048"/>
            <a:ext cx="6949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C276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150" dirty="0"/>
          </a:p>
        </p:txBody>
      </p:sp>
      <p:sp>
        <p:nvSpPr>
          <p:cNvPr id="4" name="Text 1"/>
          <p:cNvSpPr/>
          <p:nvPr/>
        </p:nvSpPr>
        <p:spPr>
          <a:xfrm>
            <a:off x="640080" y="676656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1C458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 is authorised to do what?</a:t>
            </a:r>
            <a:endParaRPr lang="en-US" sz="3100" dirty="0"/>
          </a:p>
        </p:txBody>
      </p:sp>
      <p:sp>
        <p:nvSpPr>
          <p:cNvPr id="5" name="Text 2"/>
          <p:cNvSpPr/>
          <p:nvPr/>
        </p:nvSpPr>
        <p:spPr>
          <a:xfrm>
            <a:off x="640080" y="137160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issuer, a wallet and a verifier each have to answer the same question about the other side: is this counterpart recognised by the scheme? A trust list is the signed, publicly fetchable answer.</a:t>
            </a:r>
            <a:endParaRPr lang="en-US" sz="1350" dirty="0"/>
          </a:p>
        </p:txBody>
      </p:sp>
      <p:sp>
        <p:nvSpPr>
          <p:cNvPr id="6" name="Shape 3"/>
          <p:cNvSpPr/>
          <p:nvPr/>
        </p:nvSpPr>
        <p:spPr>
          <a:xfrm>
            <a:off x="640080" y="2011680"/>
            <a:ext cx="3493008" cy="914400"/>
          </a:xfrm>
          <a:prstGeom prst="roundRect">
            <a:avLst>
              <a:gd name="adj" fmla="val 9000"/>
            </a:avLst>
          </a:prstGeom>
          <a:solidFill>
            <a:srgbClr val="EDF2F9"/>
          </a:solidFill>
          <a:ln w="12700">
            <a:solidFill>
              <a:srgbClr val="EDF2F9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914400" y="213969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C45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Issuer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914400" y="2432304"/>
            <a:ext cx="2971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signs credentials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4151376" y="2011680"/>
            <a:ext cx="21945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C45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2386584" y="2926080"/>
            <a:ext cx="0" cy="457200"/>
          </a:xfrm>
          <a:prstGeom prst="line">
            <a:avLst/>
          </a:prstGeom>
          <a:noFill/>
          <a:ln w="15875">
            <a:solidFill>
              <a:srgbClr val="B9C4D6"/>
            </a:solidFill>
            <a:prstDash val="dash"/>
          </a:ln>
        </p:spPr>
      </p:sp>
      <p:sp>
        <p:nvSpPr>
          <p:cNvPr id="11" name="Shape 8"/>
          <p:cNvSpPr/>
          <p:nvPr/>
        </p:nvSpPr>
        <p:spPr>
          <a:xfrm>
            <a:off x="4352544" y="2011680"/>
            <a:ext cx="3493008" cy="914400"/>
          </a:xfrm>
          <a:prstGeom prst="roundRect">
            <a:avLst>
              <a:gd name="adj" fmla="val 9000"/>
            </a:avLst>
          </a:prstGeom>
          <a:solidFill>
            <a:srgbClr val="EDF2F9"/>
          </a:solidFill>
          <a:ln w="12700">
            <a:solidFill>
              <a:srgbClr val="EDF2F9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626864" y="213969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C45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Wallet Unit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4626864" y="2432304"/>
            <a:ext cx="2971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holds &amp; presents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7863840" y="2011680"/>
            <a:ext cx="21945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C45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6099048" y="2926080"/>
            <a:ext cx="0" cy="457200"/>
          </a:xfrm>
          <a:prstGeom prst="line">
            <a:avLst/>
          </a:prstGeom>
          <a:noFill/>
          <a:ln w="15875">
            <a:solidFill>
              <a:srgbClr val="B9C4D6"/>
            </a:solidFill>
            <a:prstDash val="dash"/>
          </a:ln>
        </p:spPr>
      </p:sp>
      <p:sp>
        <p:nvSpPr>
          <p:cNvPr id="16" name="Shape 13"/>
          <p:cNvSpPr/>
          <p:nvPr/>
        </p:nvSpPr>
        <p:spPr>
          <a:xfrm>
            <a:off x="8065008" y="2011680"/>
            <a:ext cx="3493008" cy="914400"/>
          </a:xfrm>
          <a:prstGeom prst="roundRect">
            <a:avLst>
              <a:gd name="adj" fmla="val 9000"/>
            </a:avLst>
          </a:prstGeom>
          <a:solidFill>
            <a:srgbClr val="EDF2F9"/>
          </a:solidFill>
          <a:ln w="12700">
            <a:solidFill>
              <a:srgbClr val="EDF2F9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8339328" y="213969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C45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Verifier</a:t>
            </a:r>
            <a:endParaRPr lang="en-US" sz="1450" dirty="0"/>
          </a:p>
        </p:txBody>
      </p:sp>
      <p:sp>
        <p:nvSpPr>
          <p:cNvPr id="18" name="Text 15"/>
          <p:cNvSpPr/>
          <p:nvPr/>
        </p:nvSpPr>
        <p:spPr>
          <a:xfrm>
            <a:off x="8339328" y="2432304"/>
            <a:ext cx="2971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requests &amp; checks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9811512" y="2926080"/>
            <a:ext cx="0" cy="457200"/>
          </a:xfrm>
          <a:prstGeom prst="line">
            <a:avLst/>
          </a:prstGeom>
          <a:noFill/>
          <a:ln w="15875">
            <a:solidFill>
              <a:srgbClr val="B9C4D6"/>
            </a:solidFill>
            <a:prstDash val="dash"/>
          </a:ln>
        </p:spPr>
      </p:sp>
      <p:sp>
        <p:nvSpPr>
          <p:cNvPr id="20" name="Shape 17"/>
          <p:cNvSpPr/>
          <p:nvPr/>
        </p:nvSpPr>
        <p:spPr>
          <a:xfrm>
            <a:off x="640080" y="3383280"/>
            <a:ext cx="10917936" cy="658368"/>
          </a:xfrm>
          <a:prstGeom prst="roundRect">
            <a:avLst>
              <a:gd name="adj" fmla="val 12500"/>
            </a:avLst>
          </a:prstGeom>
          <a:solidFill>
            <a:srgbClr val="1C4587"/>
          </a:solidFill>
          <a:ln w="12700">
            <a:solidFill>
              <a:srgbClr val="1C4587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914400" y="3383280"/>
            <a:ext cx="10332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 list  —  the shared anchor of authority</a:t>
            </a:r>
            <a:endParaRPr lang="en-US" sz="1500" dirty="0"/>
          </a:p>
        </p:txBody>
      </p:sp>
      <p:sp>
        <p:nvSpPr>
          <p:cNvPr id="22" name="Shape 19"/>
          <p:cNvSpPr/>
          <p:nvPr/>
        </p:nvSpPr>
        <p:spPr>
          <a:xfrm>
            <a:off x="640080" y="4315968"/>
            <a:ext cx="5120640" cy="1371600"/>
          </a:xfrm>
          <a:prstGeom prst="roundRect">
            <a:avLst>
              <a:gd name="adj" fmla="val 6000"/>
            </a:avLst>
          </a:prstGeom>
          <a:solidFill>
            <a:srgbClr val="EDF2F9"/>
          </a:solidFill>
          <a:ln w="12700">
            <a:solidFill>
              <a:srgbClr val="EDF2F9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96112" y="44622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C276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ETSI TS 119 612</a:t>
            </a:r>
            <a:endParaRPr lang="en-US" sz="1050" dirty="0"/>
          </a:p>
        </p:txBody>
      </p:sp>
      <p:sp>
        <p:nvSpPr>
          <p:cNvPr id="24" name="Text 21"/>
          <p:cNvSpPr/>
          <p:nvPr/>
        </p:nvSpPr>
        <p:spPr>
          <a:xfrm>
            <a:off x="896112" y="471830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45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 Status List (TSL)</a:t>
            </a:r>
            <a:endParaRPr lang="en-US" sz="1500" dirty="0"/>
          </a:p>
        </p:txBody>
      </p:sp>
      <p:sp>
        <p:nvSpPr>
          <p:cNvPr id="25" name="Text 22"/>
          <p:cNvSpPr/>
          <p:nvPr/>
        </p:nvSpPr>
        <p:spPr>
          <a:xfrm>
            <a:off x="896112" y="5029200"/>
            <a:ext cx="4617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6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XML  ·  XML-DSIG / XAdES  ·  the format the EU LOTL and national lists already use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6126480" y="4315968"/>
            <a:ext cx="5120640" cy="1371600"/>
          </a:xfrm>
          <a:prstGeom prst="roundRect">
            <a:avLst>
              <a:gd name="adj" fmla="val 6000"/>
            </a:avLst>
          </a:prstGeom>
          <a:solidFill>
            <a:srgbClr val="DCE5F2"/>
          </a:solidFill>
          <a:ln w="12700">
            <a:solidFill>
              <a:srgbClr val="DCE5F2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6382512" y="446227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C276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ETSI TS 119 602</a:t>
            </a:r>
            <a:endParaRPr lang="en-US" sz="1050" dirty="0"/>
          </a:p>
        </p:txBody>
      </p:sp>
      <p:sp>
        <p:nvSpPr>
          <p:cNvPr id="28" name="Text 25"/>
          <p:cNvSpPr/>
          <p:nvPr/>
        </p:nvSpPr>
        <p:spPr>
          <a:xfrm>
            <a:off x="6382512" y="471830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45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 of Trusted Entities (LoTE)</a:t>
            </a:r>
            <a:endParaRPr lang="en-US" sz="1500" dirty="0"/>
          </a:p>
        </p:txBody>
      </p:sp>
      <p:sp>
        <p:nvSpPr>
          <p:cNvPr id="29" name="Text 26"/>
          <p:cNvSpPr/>
          <p:nvPr/>
        </p:nvSpPr>
        <p:spPr>
          <a:xfrm>
            <a:off x="6382512" y="5029200"/>
            <a:ext cx="4617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6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  ·  JWS  ·  the newer, wallet-friendly format, with LoTL for lists of lists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640080" y="6291072"/>
            <a:ext cx="877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formats are first-class here — and one converts to the other.</a:t>
            </a:r>
            <a:endParaRPr lang="en-US" sz="950" dirty="0"/>
          </a:p>
        </p:txBody>
      </p:sp>
      <p:sp>
        <p:nvSpPr>
          <p:cNvPr id="31" name="Text 28"/>
          <p:cNvSpPr/>
          <p:nvPr/>
        </p:nvSpPr>
        <p:spPr>
          <a:xfrm>
            <a:off x="11002975" y="62910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iros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59975" y="310896"/>
            <a:ext cx="1691640" cy="564185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384048"/>
            <a:ext cx="6949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C276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STACK</a:t>
            </a:r>
            <a:endParaRPr lang="en-US" sz="1150" dirty="0"/>
          </a:p>
        </p:txBody>
      </p:sp>
      <p:sp>
        <p:nvSpPr>
          <p:cNvPr id="4" name="Text 1"/>
          <p:cNvSpPr/>
          <p:nvPr/>
        </p:nvSpPr>
        <p:spPr>
          <a:xfrm>
            <a:off x="640080" y="676656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1C458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repositories, one pipeline</a:t>
            </a:r>
            <a:endParaRPr lang="en-US" sz="3100" dirty="0"/>
          </a:p>
        </p:txBody>
      </p:sp>
      <p:sp>
        <p:nvSpPr>
          <p:cNvPr id="5" name="Shape 2"/>
          <p:cNvSpPr/>
          <p:nvPr/>
        </p:nvSpPr>
        <p:spPr>
          <a:xfrm>
            <a:off x="640080" y="1517904"/>
            <a:ext cx="3493008" cy="3200400"/>
          </a:xfrm>
          <a:prstGeom prst="roundRect">
            <a:avLst>
              <a:gd name="adj" fmla="val 2571"/>
            </a:avLst>
          </a:prstGeom>
          <a:solidFill>
            <a:srgbClr val="EDF2F9"/>
          </a:solidFill>
          <a:ln w="12700">
            <a:solidFill>
              <a:srgbClr val="EDF2F9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14400" y="1773936"/>
            <a:ext cx="475488" cy="475488"/>
          </a:xfrm>
          <a:prstGeom prst="ellipse">
            <a:avLst/>
          </a:prstGeom>
          <a:solidFill>
            <a:srgbClr val="1C4587"/>
          </a:solidFill>
          <a:ln w="12700">
            <a:solidFill>
              <a:srgbClr val="1C4587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914400" y="17739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914400" y="2432304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C45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g119612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914400" y="2743200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276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engine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914400" y="3108960"/>
            <a:ext cx="29718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556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 library for TS 119 612 + TS 119 602</a:t>
            </a:r>
            <a:endParaRPr lang="en-US" sz="11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556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tsl-tool CLI, driven by YAML pipelines</a:t>
            </a:r>
            <a:endParaRPr lang="en-US" sz="11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556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Ships as a GitHub Action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352544" y="1517904"/>
            <a:ext cx="3493008" cy="3200400"/>
          </a:xfrm>
          <a:prstGeom prst="roundRect">
            <a:avLst>
              <a:gd name="adj" fmla="val 2571"/>
            </a:avLst>
          </a:prstGeom>
          <a:solidFill>
            <a:srgbClr val="EDF2F9"/>
          </a:solidFill>
          <a:ln w="12700">
            <a:solidFill>
              <a:srgbClr val="EDF2F9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626864" y="1773936"/>
            <a:ext cx="475488" cy="475488"/>
          </a:xfrm>
          <a:prstGeom prst="ellipse">
            <a:avLst/>
          </a:prstGeom>
          <a:solidFill>
            <a:srgbClr val="1C4587"/>
          </a:solidFill>
          <a:ln w="12700">
            <a:solidFill>
              <a:srgbClr val="1C4587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4626864" y="17739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4626864" y="2432304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C45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trust-lists</a:t>
            </a:r>
            <a:endParaRPr lang="en-US" sz="1800" dirty="0"/>
          </a:p>
        </p:txBody>
      </p:sp>
      <p:sp>
        <p:nvSpPr>
          <p:cNvPr id="15" name="Text 12"/>
          <p:cNvSpPr/>
          <p:nvPr/>
        </p:nvSpPr>
        <p:spPr>
          <a:xfrm>
            <a:off x="4626864" y="2743200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276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source of truth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4626864" y="3108960"/>
            <a:ext cx="29718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556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Entities and providers as YAML + certs</a:t>
            </a:r>
            <a:endParaRPr lang="en-US" sz="11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556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change is a reviewed pull request</a:t>
            </a:r>
            <a:endParaRPr lang="en-US" sz="11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556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history is the audit log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8065008" y="1517904"/>
            <a:ext cx="3493008" cy="3200400"/>
          </a:xfrm>
          <a:prstGeom prst="roundRect">
            <a:avLst>
              <a:gd name="adj" fmla="val 2571"/>
            </a:avLst>
          </a:prstGeom>
          <a:solidFill>
            <a:srgbClr val="EDF2F9"/>
          </a:solidFill>
          <a:ln w="12700">
            <a:solidFill>
              <a:srgbClr val="EDF2F9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339328" y="1773936"/>
            <a:ext cx="475488" cy="475488"/>
          </a:xfrm>
          <a:prstGeom prst="ellipse">
            <a:avLst/>
          </a:prstGeom>
          <a:solidFill>
            <a:srgbClr val="1C4587"/>
          </a:solidFill>
          <a:ln w="12700">
            <a:solidFill>
              <a:srgbClr val="1C4587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339328" y="17739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8339328" y="2432304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C45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trust.siros.org</a:t>
            </a:r>
            <a:endParaRPr lang="en-US" sz="1800" dirty="0"/>
          </a:p>
        </p:txBody>
      </p:sp>
      <p:sp>
        <p:nvSpPr>
          <p:cNvPr id="21" name="Text 18"/>
          <p:cNvSpPr/>
          <p:nvPr/>
        </p:nvSpPr>
        <p:spPr>
          <a:xfrm>
            <a:off x="8339328" y="2743200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276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published output</a:t>
            </a:r>
            <a:endParaRPr lang="en-US" sz="1150" dirty="0"/>
          </a:p>
        </p:txBody>
      </p:sp>
      <p:sp>
        <p:nvSpPr>
          <p:cNvPr id="22" name="Text 19"/>
          <p:cNvSpPr/>
          <p:nvPr/>
        </p:nvSpPr>
        <p:spPr>
          <a:xfrm>
            <a:off x="8339328" y="3108960"/>
            <a:ext cx="29718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556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Signed LoTE JSON + JWS, TSL XML</a:t>
            </a:r>
            <a:endParaRPr lang="en-US" sz="11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556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Deployed to GitHub Pages on merge</a:t>
            </a:r>
            <a:endParaRPr lang="en-US" sz="11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556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Fetched by wallets, verifiers, PDPs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640080" y="4882896"/>
            <a:ext cx="10917936" cy="786384"/>
          </a:xfrm>
          <a:prstGeom prst="roundRect">
            <a:avLst>
              <a:gd name="adj" fmla="val 10465"/>
            </a:avLst>
          </a:prstGeom>
          <a:solidFill>
            <a:srgbClr val="DCE5F2"/>
          </a:solidFill>
          <a:ln w="12700">
            <a:solidFill>
              <a:srgbClr val="DCE5F2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914400" y="4882896"/>
            <a:ext cx="103327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45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Downstream:  </a:t>
            </a:r>
            <a:pPr indent="0" marL="0">
              <a:buNone/>
            </a:pPr>
            <a:r>
              <a:rPr lang="en-US" sz="1200" dirty="0">
                <a:solidFill>
                  <a:srgbClr val="556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go-trust consumes the published lists as an AuthZEN Trust Decision Point — parallel evaluation across ETSI TSL, LoTE, OpenID Federation and DID Web.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640080" y="6291072"/>
            <a:ext cx="877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github.com/sirosfoundation</a:t>
            </a:r>
            <a:endParaRPr lang="en-US" sz="950" dirty="0"/>
          </a:p>
        </p:txBody>
      </p:sp>
      <p:sp>
        <p:nvSpPr>
          <p:cNvPr id="26" name="Text 23"/>
          <p:cNvSpPr/>
          <p:nvPr/>
        </p:nvSpPr>
        <p:spPr>
          <a:xfrm>
            <a:off x="11002975" y="62910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iros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59975" y="310896"/>
            <a:ext cx="1691640" cy="564185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384048"/>
            <a:ext cx="6949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C276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G119612</a:t>
            </a:r>
            <a:endParaRPr lang="en-US" sz="1150" dirty="0"/>
          </a:p>
        </p:txBody>
      </p:sp>
      <p:sp>
        <p:nvSpPr>
          <p:cNvPr id="4" name="Text 1"/>
          <p:cNvSpPr/>
          <p:nvPr/>
        </p:nvSpPr>
        <p:spPr>
          <a:xfrm>
            <a:off x="640080" y="676656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1C458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library, both ETSI formats</a:t>
            </a:r>
            <a:endParaRPr lang="en-US" sz="3100" dirty="0"/>
          </a:p>
        </p:txBody>
      </p:sp>
      <p:sp>
        <p:nvSpPr>
          <p:cNvPr id="5" name="Shape 2"/>
          <p:cNvSpPr/>
          <p:nvPr/>
        </p:nvSpPr>
        <p:spPr>
          <a:xfrm>
            <a:off x="640080" y="1481328"/>
            <a:ext cx="5120640" cy="2286000"/>
          </a:xfrm>
          <a:prstGeom prst="roundRect">
            <a:avLst>
              <a:gd name="adj" fmla="val 3600"/>
            </a:avLst>
          </a:prstGeom>
          <a:solidFill>
            <a:srgbClr val="EDF2F9"/>
          </a:solidFill>
          <a:ln w="12700">
            <a:solidFill>
              <a:srgbClr val="EDF2F9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914400" y="16459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45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TS 119 612  ·  TSL (XML)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914400" y="1993392"/>
            <a:ext cx="45720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556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parsing and structural validation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556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XML digital signature validation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556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an x509.CertPool straight from a TSL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556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Brainpool curves via go-cryptoutil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556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XSLT transform to browsable HTML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6126480" y="1481328"/>
            <a:ext cx="5120640" cy="2286000"/>
          </a:xfrm>
          <a:prstGeom prst="roundRect">
            <a:avLst>
              <a:gd name="adj" fmla="val 3600"/>
            </a:avLst>
          </a:prstGeom>
          <a:solidFill>
            <a:srgbClr val="DCE5F2"/>
          </a:solidFill>
          <a:ln w="12700">
            <a:solidFill>
              <a:srgbClr val="DCE5F2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00800" y="16459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45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TS 119 602  ·  LoTE (JSON)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6400800" y="1993392"/>
            <a:ext cx="45720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556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Parse, generate, validate and publish LoTEs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556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TSL → LoTE conversion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556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JWS signing — file keys or PKCS#11 / HSM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556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X.509, JWK and DID identities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556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 and sequence-number management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640080" y="3968496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45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Packages   </a:t>
            </a:r>
            <a:pPr indent="0" marL="0">
              <a:buNone/>
            </a:pPr>
            <a:r>
              <a:rPr lang="en-US" sz="1200" dirty="0">
                <a:solidFill>
                  <a:srgbClr val="556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etsi119612 · etsi119602 · dsig · jws · pipeline · xslt · validation · resilience · logging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40080" y="4407408"/>
            <a:ext cx="2560320" cy="1170432"/>
          </a:xfrm>
          <a:prstGeom prst="roundRect">
            <a:avLst>
              <a:gd name="adj" fmla="val 7031"/>
            </a:avLst>
          </a:prstGeom>
          <a:solidFill>
            <a:srgbClr val="EDF2F9"/>
          </a:solidFill>
          <a:ln w="12700">
            <a:solidFill>
              <a:srgbClr val="EDF2F9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59536" y="4517136"/>
            <a:ext cx="21945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458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13.1k</a:t>
            </a:r>
            <a:endParaRPr lang="en-US" sz="2800" dirty="0"/>
          </a:p>
        </p:txBody>
      </p:sp>
      <p:sp>
        <p:nvSpPr>
          <p:cNvPr id="14" name="Text 11"/>
          <p:cNvSpPr/>
          <p:nvPr/>
        </p:nvSpPr>
        <p:spPr>
          <a:xfrm>
            <a:off x="859536" y="5047488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lines of library code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3401568" y="4407408"/>
            <a:ext cx="2560320" cy="1170432"/>
          </a:xfrm>
          <a:prstGeom prst="roundRect">
            <a:avLst>
              <a:gd name="adj" fmla="val 7031"/>
            </a:avLst>
          </a:prstGeom>
          <a:solidFill>
            <a:srgbClr val="EDF2F9"/>
          </a:solidFill>
          <a:ln w="12700">
            <a:solidFill>
              <a:srgbClr val="EDF2F9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621024" y="4517136"/>
            <a:ext cx="21945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458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15.0k</a:t>
            </a:r>
            <a:endParaRPr lang="en-US" sz="2800" dirty="0"/>
          </a:p>
        </p:txBody>
      </p:sp>
      <p:sp>
        <p:nvSpPr>
          <p:cNvPr id="17" name="Text 14"/>
          <p:cNvSpPr/>
          <p:nvPr/>
        </p:nvSpPr>
        <p:spPr>
          <a:xfrm>
            <a:off x="3621024" y="5047488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lines of tests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6163056" y="4407408"/>
            <a:ext cx="2560320" cy="1170432"/>
          </a:xfrm>
          <a:prstGeom prst="roundRect">
            <a:avLst>
              <a:gd name="adj" fmla="val 7031"/>
            </a:avLst>
          </a:prstGeom>
          <a:solidFill>
            <a:srgbClr val="EDF2F9"/>
          </a:solidFill>
          <a:ln w="12700">
            <a:solidFill>
              <a:srgbClr val="EDF2F9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382512" y="4517136"/>
            <a:ext cx="21945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458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 1.26</a:t>
            </a:r>
            <a:endParaRPr lang="en-US" sz="2800" dirty="0"/>
          </a:p>
        </p:txBody>
      </p:sp>
      <p:sp>
        <p:nvSpPr>
          <p:cNvPr id="20" name="Text 17"/>
          <p:cNvSpPr/>
          <p:nvPr/>
        </p:nvSpPr>
        <p:spPr>
          <a:xfrm>
            <a:off x="6382512" y="5047488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fully reentrant, no caching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8924544" y="4407408"/>
            <a:ext cx="2560320" cy="1170432"/>
          </a:xfrm>
          <a:prstGeom prst="roundRect">
            <a:avLst>
              <a:gd name="adj" fmla="val 7031"/>
            </a:avLst>
          </a:prstGeom>
          <a:solidFill>
            <a:srgbClr val="EDF2F9"/>
          </a:solidFill>
          <a:ln w="12700">
            <a:solidFill>
              <a:srgbClr val="EDF2F9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9144000" y="4517136"/>
            <a:ext cx="21945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458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BSD-2</a:t>
            </a:r>
            <a:endParaRPr lang="en-US" sz="2800" dirty="0"/>
          </a:p>
        </p:txBody>
      </p:sp>
      <p:sp>
        <p:nvSpPr>
          <p:cNvPr id="23" name="Text 20"/>
          <p:cNvSpPr/>
          <p:nvPr/>
        </p:nvSpPr>
        <p:spPr>
          <a:xfrm>
            <a:off x="9144000" y="5047488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OpenSSF Scorecard tracked</a:t>
            </a:r>
            <a:endParaRPr lang="en-US" sz="1050" dirty="0"/>
          </a:p>
        </p:txBody>
      </p:sp>
      <p:sp>
        <p:nvSpPr>
          <p:cNvPr id="24" name="Text 21"/>
          <p:cNvSpPr/>
          <p:nvPr/>
        </p:nvSpPr>
        <p:spPr>
          <a:xfrm>
            <a:off x="640080" y="6291072"/>
            <a:ext cx="877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pkg.go.dev/github.com/sirosfoundation/g119612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11002975" y="62910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iros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59975" y="310896"/>
            <a:ext cx="1691640" cy="564185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384048"/>
            <a:ext cx="6949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C276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G119612  ·  TSL-TOOL</a:t>
            </a:r>
            <a:endParaRPr lang="en-US" sz="1150" dirty="0"/>
          </a:p>
        </p:txBody>
      </p:sp>
      <p:sp>
        <p:nvSpPr>
          <p:cNvPr id="4" name="Text 1"/>
          <p:cNvSpPr/>
          <p:nvPr/>
        </p:nvSpPr>
        <p:spPr>
          <a:xfrm>
            <a:off x="640080" y="676656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1C458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Pipelines, not bespoke scripts</a:t>
            </a:r>
            <a:endParaRPr lang="en-US" sz="3100" dirty="0"/>
          </a:p>
        </p:txBody>
      </p:sp>
      <p:sp>
        <p:nvSpPr>
          <p:cNvPr id="5" name="Shape 2"/>
          <p:cNvSpPr/>
          <p:nvPr/>
        </p:nvSpPr>
        <p:spPr>
          <a:xfrm>
            <a:off x="640080" y="1463040"/>
            <a:ext cx="5120640" cy="3017520"/>
          </a:xfrm>
          <a:prstGeom prst="roundRect">
            <a:avLst>
              <a:gd name="adj" fmla="val 2727"/>
            </a:avLst>
          </a:prstGeom>
          <a:solidFill>
            <a:srgbClr val="F5F7FA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914400" y="15910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C276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pipeline.yaml</a:t>
            </a:r>
            <a:endParaRPr lang="en-US" sz="1050" dirty="0"/>
          </a:p>
        </p:txBody>
      </p:sp>
      <p:sp>
        <p:nvSpPr>
          <p:cNvPr id="7" name="Text 4"/>
          <p:cNvSpPr/>
          <p:nvPr/>
        </p:nvSpPr>
        <p:spPr>
          <a:xfrm>
            <a:off x="914400" y="1883664"/>
            <a:ext cx="46177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set-fetch-options:</a:t>
            </a:r>
            <a:endParaRPr lang="en-US" sz="10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 timeout:60s</a:t>
            </a:r>
            <a:endParaRPr lang="en-US" sz="10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load:</a:t>
            </a:r>
            <a:endParaRPr lang="en-US" sz="10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 https://ec.europa.eu/tools/lotl/eu-lotl.xml</a:t>
            </a:r>
            <a:endParaRPr lang="en-US" sz="10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select:</a:t>
            </a:r>
            <a:endParaRPr lang="en-US" sz="10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 reference-depth:2</a:t>
            </a:r>
            <a:endParaRPr lang="en-US" sz="10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convert-to-lote:</a:t>
            </a:r>
            <a:endParaRPr lang="en-US" sz="10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merge-lote:</a:t>
            </a:r>
            <a:endParaRPr lang="en-US" sz="10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increment-lote-sequence:</a:t>
            </a:r>
            <a:endParaRPr lang="en-US" sz="10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publish-lote:</a:t>
            </a:r>
            <a:endParaRPr lang="en-US" sz="10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 ${OUTPUT_DIR}</a:t>
            </a:r>
            <a:endParaRPr lang="en-US" sz="10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 ${PKCS11_URI}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6144768" y="1463040"/>
            <a:ext cx="5413248" cy="1225296"/>
          </a:xfrm>
          <a:prstGeom prst="roundRect">
            <a:avLst>
              <a:gd name="adj" fmla="val 6716"/>
            </a:avLst>
          </a:prstGeom>
          <a:solidFill>
            <a:srgbClr val="EDF2F9"/>
          </a:solidFill>
          <a:ln w="12700">
            <a:solidFill>
              <a:srgbClr val="EDF2F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00800" y="1609344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45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TSL steps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6400800" y="1938528"/>
            <a:ext cx="4892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6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· select · transform · publish · generate · generate_index · report · set-fetch-options · log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6144768" y="3255264"/>
            <a:ext cx="5413248" cy="1225296"/>
          </a:xfrm>
          <a:prstGeom prst="roundRect">
            <a:avLst>
              <a:gd name="adj" fmla="val 6716"/>
            </a:avLst>
          </a:prstGeom>
          <a:solidFill>
            <a:srgbClr val="DCE5F2"/>
          </a:solidFill>
          <a:ln w="12700">
            <a:solidFill>
              <a:srgbClr val="DCE5F2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400800" y="3401568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45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LoTE steps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6400800" y="3730752"/>
            <a:ext cx="4892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6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load-lote · generate-lote · generate-lotl · convert-to-lote · merge-lote · increment-lote-sequence · publish-lote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640080" y="4681728"/>
            <a:ext cx="10917936" cy="969264"/>
          </a:xfrm>
          <a:prstGeom prst="roundRect">
            <a:avLst>
              <a:gd name="adj" fmla="val 8491"/>
            </a:avLst>
          </a:prstGeom>
          <a:solidFill>
            <a:srgbClr val="EDF2F9"/>
          </a:solidFill>
          <a:ln w="12700">
            <a:solidFill>
              <a:srgbClr val="EDF2F9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14400" y="4681728"/>
            <a:ext cx="1033272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45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Reusable in CI.  </a:t>
            </a:r>
            <a:pPr indent="0" marL="0">
              <a:buNone/>
            </a:pPr>
            <a:r>
              <a:rPr lang="en-US" sz="1150" dirty="0">
                <a:solidFill>
                  <a:srgbClr val="556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tsl-tool ships as a composite GitHub Action — </a:t>
            </a:r>
            <a:pPr indent="0" marL="0">
              <a:buNone/>
            </a:pPr>
            <a:r>
              <a:rPr lang="en-US" sz="115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uses: sirosfoundation/g119612@v0.7.0</a:t>
            </a:r>
            <a:pPr indent="0" marL="0">
              <a:buNone/>
            </a:pPr>
            <a:r>
              <a:rPr lang="en-US" sz="1150" dirty="0">
                <a:solidFill>
                  <a:srgbClr val="556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downloading a pre-built binary for the runner. The same pipeline file runs locally and in the trust-lists workflows.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640080" y="6291072"/>
            <a:ext cx="877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YAML file per trust list decides what that list is and how it is signed.</a:t>
            </a:r>
            <a:endParaRPr lang="en-US" sz="950" dirty="0"/>
          </a:p>
        </p:txBody>
      </p:sp>
      <p:sp>
        <p:nvSpPr>
          <p:cNvPr id="17" name="Text 14"/>
          <p:cNvSpPr/>
          <p:nvPr/>
        </p:nvSpPr>
        <p:spPr>
          <a:xfrm>
            <a:off x="11002975" y="62910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iros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59975" y="310896"/>
            <a:ext cx="1691640" cy="564185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384048"/>
            <a:ext cx="6949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C276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TRUST-LISTS</a:t>
            </a:r>
            <a:endParaRPr lang="en-US" sz="1150" dirty="0"/>
          </a:p>
        </p:txBody>
      </p:sp>
      <p:sp>
        <p:nvSpPr>
          <p:cNvPr id="4" name="Text 1"/>
          <p:cNvSpPr/>
          <p:nvPr/>
        </p:nvSpPr>
        <p:spPr>
          <a:xfrm>
            <a:off x="640080" y="676656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1C458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Trust data as code</a:t>
            </a:r>
            <a:endParaRPr lang="en-US" sz="3100" dirty="0"/>
          </a:p>
        </p:txBody>
      </p:sp>
      <p:sp>
        <p:nvSpPr>
          <p:cNvPr id="5" name="Shape 2"/>
          <p:cNvSpPr/>
          <p:nvPr/>
        </p:nvSpPr>
        <p:spPr>
          <a:xfrm>
            <a:off x="640080" y="1463040"/>
            <a:ext cx="5120640" cy="3291840"/>
          </a:xfrm>
          <a:prstGeom prst="roundRect">
            <a:avLst>
              <a:gd name="adj" fmla="val 2500"/>
            </a:avLst>
          </a:prstGeom>
          <a:solidFill>
            <a:srgbClr val="F5F7FA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914400" y="15910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C276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lists/&lt;instance&gt;/</a:t>
            </a:r>
            <a:endParaRPr lang="en-US" sz="1050" dirty="0"/>
          </a:p>
        </p:txBody>
      </p:sp>
      <p:sp>
        <p:nvSpPr>
          <p:cNvPr id="7" name="Text 4"/>
          <p:cNvSpPr/>
          <p:nvPr/>
        </p:nvSpPr>
        <p:spPr>
          <a:xfrm>
            <a:off x="914400" y="1901952"/>
            <a:ext cx="46634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.pipeline.yaml      what this list is</a:t>
            </a:r>
            <a:endParaRPr lang="en-US" sz="10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scheme.yaml         operator, type, territory</a:t>
            </a:r>
            <a:endParaRPr lang="en-US" sz="10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lotl.yaml           pointers (lists of lists)</a:t>
            </a:r>
            <a:endParaRPr lang="en-US" sz="10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entities/           LoTE trusted entities</a:t>
            </a:r>
            <a:endParaRPr lang="en-US" sz="10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&lt;entity&gt;/</a:t>
            </a:r>
            <a:endParaRPr lang="en-US" sz="10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entity.yaml     names, entityId, services</a:t>
            </a:r>
            <a:endParaRPr lang="en-US" sz="10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cert.pem        X.509</a:t>
            </a:r>
            <a:endParaRPr lang="en-US" sz="10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key.jwk         JWK</a:t>
            </a:r>
            <a:endParaRPr lang="en-US" sz="10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providers/          TSL service providers</a:t>
            </a:r>
            <a:endParaRPr lang="en-US" sz="10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&lt;provider&gt;/</a:t>
            </a:r>
            <a:endParaRPr lang="en-US" sz="10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provider.yaml</a:t>
            </a:r>
            <a:endParaRPr lang="en-US" sz="10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&lt;service&gt;/cert.pem + cert.yaml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6144768" y="1554480"/>
            <a:ext cx="420624" cy="420624"/>
          </a:xfrm>
          <a:prstGeom prst="ellipse">
            <a:avLst/>
          </a:prstGeom>
          <a:solidFill>
            <a:srgbClr val="1C4587"/>
          </a:solidFill>
          <a:ln w="12700">
            <a:solidFill>
              <a:srgbClr val="1C458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144768" y="15544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6711696" y="1517904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45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6711696" y="1792224"/>
            <a:ext cx="4846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6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contributor opens a PR adding or amending an entity directory.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6144768" y="2395728"/>
            <a:ext cx="420624" cy="420624"/>
          </a:xfrm>
          <a:prstGeom prst="ellipse">
            <a:avLst/>
          </a:prstGeom>
          <a:solidFill>
            <a:srgbClr val="1C4587"/>
          </a:solidFill>
          <a:ln w="12700">
            <a:solidFill>
              <a:srgbClr val="1C4587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144768" y="239572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6711696" y="2359152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45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6711696" y="2633472"/>
            <a:ext cx="4846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6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 runs every pipeline in validation mode — structure and certificates must parse.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6144768" y="3236976"/>
            <a:ext cx="420624" cy="420624"/>
          </a:xfrm>
          <a:prstGeom prst="ellipse">
            <a:avLst/>
          </a:prstGeom>
          <a:solidFill>
            <a:srgbClr val="1C4587"/>
          </a:solidFill>
          <a:ln w="12700">
            <a:solidFill>
              <a:srgbClr val="1C4587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144768" y="323697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6711696" y="3200400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45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6711696" y="3474720"/>
            <a:ext cx="4846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6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human approves the change to the trust anchor set. Nothing merges unreviewed.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6144768" y="4078224"/>
            <a:ext cx="420624" cy="420624"/>
          </a:xfrm>
          <a:prstGeom prst="ellipse">
            <a:avLst/>
          </a:prstGeom>
          <a:solidFill>
            <a:srgbClr val="1C4587"/>
          </a:solidFill>
          <a:ln w="12700">
            <a:solidFill>
              <a:srgbClr val="1C4587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6144768" y="407822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19"/>
          <p:cNvSpPr/>
          <p:nvPr/>
        </p:nvSpPr>
        <p:spPr>
          <a:xfrm>
            <a:off x="6711696" y="4041648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45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6711696" y="4315968"/>
            <a:ext cx="4846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6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 to main rebuilds, signs and deploys the affected lists.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640080" y="4956048"/>
            <a:ext cx="10917936" cy="694944"/>
          </a:xfrm>
          <a:prstGeom prst="roundRect">
            <a:avLst>
              <a:gd name="adj" fmla="val 11842"/>
            </a:avLst>
          </a:prstGeom>
          <a:solidFill>
            <a:srgbClr val="EDF2F9"/>
          </a:solidFill>
          <a:ln w="12700">
            <a:solidFill>
              <a:srgbClr val="EDF2F9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914400" y="4956048"/>
            <a:ext cx="10332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45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result:  </a:t>
            </a:r>
            <a:pPr indent="0" marL="0">
              <a:buNone/>
            </a:pPr>
            <a:r>
              <a:rPr lang="en-US" sz="1200" dirty="0">
                <a:solidFill>
                  <a:srgbClr val="556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trusted entity, every certificate and every removal is attributable, reviewable and reversible in Git history.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640080" y="6291072"/>
            <a:ext cx="877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github.com/sirosfoundation/trust-lists</a:t>
            </a:r>
            <a:endParaRPr lang="en-US" sz="950" dirty="0"/>
          </a:p>
        </p:txBody>
      </p:sp>
      <p:sp>
        <p:nvSpPr>
          <p:cNvPr id="27" name="Text 24"/>
          <p:cNvSpPr/>
          <p:nvPr/>
        </p:nvSpPr>
        <p:spPr>
          <a:xfrm>
            <a:off x="11002975" y="62910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iros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59975" y="310896"/>
            <a:ext cx="1691640" cy="564185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384048"/>
            <a:ext cx="6949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C276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TRUST-LISTS  ·  SIGNING</a:t>
            </a:r>
            <a:endParaRPr lang="en-US" sz="1150" dirty="0"/>
          </a:p>
        </p:txBody>
      </p:sp>
      <p:sp>
        <p:nvSpPr>
          <p:cNvPr id="4" name="Text 1"/>
          <p:cNvSpPr/>
          <p:nvPr/>
        </p:nvSpPr>
        <p:spPr>
          <a:xfrm>
            <a:off x="640080" y="676656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1C458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Keys never leave the token</a:t>
            </a:r>
            <a:endParaRPr lang="en-US" sz="3100" dirty="0"/>
          </a:p>
        </p:txBody>
      </p:sp>
      <p:sp>
        <p:nvSpPr>
          <p:cNvPr id="5" name="Text 2"/>
          <p:cNvSpPr/>
          <p:nvPr/>
        </p:nvSpPr>
        <p:spPr>
          <a:xfrm>
            <a:off x="640080" y="137160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signing goes through one PKCS#11 interface, so the same pipeline runs against an ephemeral CI key or a hardware security module. Only the mode changes.</a:t>
            </a:r>
            <a:endParaRPr lang="en-US" sz="1350" dirty="0"/>
          </a:p>
        </p:txBody>
      </p:sp>
      <p:sp>
        <p:nvSpPr>
          <p:cNvPr id="6" name="Shape 3"/>
          <p:cNvSpPr/>
          <p:nvPr/>
        </p:nvSpPr>
        <p:spPr>
          <a:xfrm>
            <a:off x="640080" y="2011680"/>
            <a:ext cx="3493008" cy="2615184"/>
          </a:xfrm>
          <a:prstGeom prst="roundRect">
            <a:avLst>
              <a:gd name="adj" fmla="val 3147"/>
            </a:avLst>
          </a:prstGeom>
          <a:solidFill>
            <a:srgbClr val="EDF2F9"/>
          </a:solidFill>
          <a:ln w="12700">
            <a:solidFill>
              <a:srgbClr val="EDF2F9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914400" y="2176272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C45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914400" y="252374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45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Ephemeral SoftHSM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914400" y="2926080"/>
            <a:ext cx="2971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C45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  </a:t>
            </a:r>
            <a:pPr indent="0" marL="0">
              <a:buNone/>
            </a:pPr>
            <a:r>
              <a:rPr lang="en-US" sz="1050" dirty="0">
                <a:solidFill>
                  <a:srgbClr val="556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key every build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914400" y="3438144"/>
            <a:ext cx="2971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C45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Runner   </a:t>
            </a:r>
            <a:pPr indent="0" marL="0">
              <a:buNone/>
            </a:pPr>
            <a:r>
              <a:rPr lang="en-US" sz="1050" dirty="0">
                <a:solidFill>
                  <a:srgbClr val="556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GitHub-hosted runner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914400" y="3950208"/>
            <a:ext cx="2971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C45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  </a:t>
            </a:r>
            <a:pPr indent="0" marL="0">
              <a:buNone/>
            </a:pPr>
            <a:r>
              <a:rPr lang="en-US" sz="1050" dirty="0">
                <a:solidFill>
                  <a:srgbClr val="556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 testing, quick validation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4352544" y="2011680"/>
            <a:ext cx="3493008" cy="2615184"/>
          </a:xfrm>
          <a:prstGeom prst="roundRect">
            <a:avLst>
              <a:gd name="adj" fmla="val 3147"/>
            </a:avLst>
          </a:prstGeom>
          <a:solidFill>
            <a:srgbClr val="EDF2F9"/>
          </a:solidFill>
          <a:ln w="12700">
            <a:solidFill>
              <a:srgbClr val="EDF2F9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4626864" y="2176272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C45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softhsm</a:t>
            </a:r>
            <a:endParaRPr lang="en-US" sz="1700" dirty="0"/>
          </a:p>
        </p:txBody>
      </p:sp>
      <p:sp>
        <p:nvSpPr>
          <p:cNvPr id="14" name="Text 11"/>
          <p:cNvSpPr/>
          <p:nvPr/>
        </p:nvSpPr>
        <p:spPr>
          <a:xfrm>
            <a:off x="4626864" y="252374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45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Persistent SoftHSM2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4626864" y="2926080"/>
            <a:ext cx="2971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C45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  </a:t>
            </a:r>
            <a:pPr indent="0" marL="0">
              <a:buNone/>
            </a:pPr>
            <a:r>
              <a:rPr lang="en-US" sz="1050" dirty="0">
                <a:solidFill>
                  <a:srgbClr val="556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 pinned to the host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4626864" y="3438144"/>
            <a:ext cx="2971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C45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Runner   </a:t>
            </a:r>
            <a:pPr indent="0" marL="0">
              <a:buNone/>
            </a:pPr>
            <a:r>
              <a:rPr lang="en-US" sz="1050" dirty="0">
                <a:solidFill>
                  <a:srgbClr val="556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Self-hosted runner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4626864" y="3950208"/>
            <a:ext cx="2971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C45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  </a:t>
            </a:r>
            <a:pPr indent="0" marL="0">
              <a:buNone/>
            </a:pPr>
            <a:r>
              <a:rPr lang="en-US" sz="1050" dirty="0">
                <a:solidFill>
                  <a:srgbClr val="556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Staging, pre-production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8065008" y="2011680"/>
            <a:ext cx="3493008" cy="2615184"/>
          </a:xfrm>
          <a:prstGeom prst="roundRect">
            <a:avLst>
              <a:gd name="adj" fmla="val 3147"/>
            </a:avLst>
          </a:prstGeom>
          <a:solidFill>
            <a:srgbClr val="DCE5F2"/>
          </a:solidFill>
          <a:ln w="12700">
            <a:solidFill>
              <a:srgbClr val="DCE5F2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339328" y="2176272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2760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yubihsm</a:t>
            </a:r>
            <a:endParaRPr lang="en-US" sz="1700" dirty="0"/>
          </a:p>
        </p:txBody>
      </p:sp>
      <p:sp>
        <p:nvSpPr>
          <p:cNvPr id="20" name="Text 17"/>
          <p:cNvSpPr/>
          <p:nvPr/>
        </p:nvSpPr>
        <p:spPr>
          <a:xfrm>
            <a:off x="8339328" y="252374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45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YubiHSM 2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8339328" y="2926080"/>
            <a:ext cx="2971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C45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  </a:t>
            </a:r>
            <a:pPr indent="0" marL="0">
              <a:buNone/>
            </a:pPr>
            <a:r>
              <a:rPr lang="en-US" sz="1050" dirty="0">
                <a:solidFill>
                  <a:srgbClr val="556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Hardware-held key</a:t>
            </a:r>
            <a:endParaRPr lang="en-US" sz="1050" dirty="0"/>
          </a:p>
        </p:txBody>
      </p:sp>
      <p:sp>
        <p:nvSpPr>
          <p:cNvPr id="22" name="Text 19"/>
          <p:cNvSpPr/>
          <p:nvPr/>
        </p:nvSpPr>
        <p:spPr>
          <a:xfrm>
            <a:off x="8339328" y="3438144"/>
            <a:ext cx="2971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C45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Runner   </a:t>
            </a:r>
            <a:pPr indent="0" marL="0">
              <a:buNone/>
            </a:pPr>
            <a:r>
              <a:rPr lang="en-US" sz="1050" dirty="0">
                <a:solidFill>
                  <a:srgbClr val="556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Self-hosted runner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8339328" y="3950208"/>
            <a:ext cx="2971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C45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  </a:t>
            </a:r>
            <a:pPr indent="0" marL="0">
              <a:buNone/>
            </a:pPr>
            <a:r>
              <a:rPr lang="en-US" sz="1050" dirty="0">
                <a:solidFill>
                  <a:srgbClr val="556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</a:t>
            </a:r>
            <a:endParaRPr lang="en-US" sz="1050" dirty="0"/>
          </a:p>
        </p:txBody>
      </p:sp>
      <p:sp>
        <p:nvSpPr>
          <p:cNvPr id="24" name="Text 21"/>
          <p:cNvSpPr/>
          <p:nvPr/>
        </p:nvSpPr>
        <p:spPr>
          <a:xfrm>
            <a:off x="640080" y="4882896"/>
            <a:ext cx="349300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45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LoTE → JWS
</a:t>
            </a:r>
            <a:pPr indent="0" marL="0">
              <a:buNone/>
            </a:pPr>
            <a:r>
              <a:rPr lang="en-US" sz="1050" dirty="0">
                <a:solidFill>
                  <a:srgbClr val="556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 lists are signed as JSON Web Signatures alongside the unsigned document.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4352544" y="4882896"/>
            <a:ext cx="349300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45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TSL → XML-DSIG
</a:t>
            </a:r>
            <a:pPr indent="0" marL="0">
              <a:buNone/>
            </a:pPr>
            <a:r>
              <a:rPr lang="en-US" sz="1050" dirty="0">
                <a:solidFill>
                  <a:srgbClr val="556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XML lists carry an enveloped XAdES signature.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8065008" y="4882896"/>
            <a:ext cx="349300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45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in CI
</a:t>
            </a:r>
            <a:pPr indent="0" marL="0">
              <a:buNone/>
            </a:pPr>
            <a:r>
              <a:rPr lang="en-US" sz="1050" dirty="0">
                <a:solidFill>
                  <a:srgbClr val="556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workflow proves signing certificate and key match before it publishes anything.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640080" y="6291072"/>
            <a:ext cx="877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scheduled workflow reissues the signing certificate before it expires.</a:t>
            </a:r>
            <a:endParaRPr lang="en-US" sz="950" dirty="0"/>
          </a:p>
        </p:txBody>
      </p:sp>
      <p:sp>
        <p:nvSpPr>
          <p:cNvPr id="28" name="Text 25"/>
          <p:cNvSpPr/>
          <p:nvPr/>
        </p:nvSpPr>
        <p:spPr>
          <a:xfrm>
            <a:off x="11002975" y="62910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iros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59975" y="310896"/>
            <a:ext cx="1691640" cy="564185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384048"/>
            <a:ext cx="6949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C276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TRUST.SIROS.ORG</a:t>
            </a:r>
            <a:endParaRPr lang="en-US" sz="1150" dirty="0"/>
          </a:p>
        </p:txBody>
      </p:sp>
      <p:sp>
        <p:nvSpPr>
          <p:cNvPr id="4" name="Text 1"/>
          <p:cNvSpPr/>
          <p:nvPr/>
        </p:nvSpPr>
        <p:spPr>
          <a:xfrm>
            <a:off x="640080" y="676656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1C458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live today</a:t>
            </a:r>
            <a:endParaRPr lang="en-US" sz="3100" dirty="0"/>
          </a:p>
        </p:txBody>
      </p:sp>
      <p:sp>
        <p:nvSpPr>
          <p:cNvPr id="5" name="Text 2"/>
          <p:cNvSpPr/>
          <p:nvPr/>
        </p:nvSpPr>
        <p:spPr>
          <a:xfrm>
            <a:off x="914400" y="1517904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20" kern="0" dirty="0">
                <a:solidFill>
                  <a:srgbClr val="556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 LIST</a:t>
            </a:r>
            <a:endParaRPr lang="en-US" sz="950" dirty="0"/>
          </a:p>
        </p:txBody>
      </p:sp>
      <p:sp>
        <p:nvSpPr>
          <p:cNvPr id="6" name="Text 3"/>
          <p:cNvSpPr/>
          <p:nvPr/>
        </p:nvSpPr>
        <p:spPr>
          <a:xfrm>
            <a:off x="3931920" y="1517904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20" kern="0" dirty="0">
                <a:solidFill>
                  <a:srgbClr val="556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5394960" y="1517904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20" kern="0" dirty="0">
                <a:solidFill>
                  <a:srgbClr val="556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</a:t>
            </a:r>
            <a:endParaRPr lang="en-US" sz="950" dirty="0"/>
          </a:p>
        </p:txBody>
      </p:sp>
      <p:sp>
        <p:nvSpPr>
          <p:cNvPr id="8" name="Shape 5"/>
          <p:cNvSpPr/>
          <p:nvPr/>
        </p:nvSpPr>
        <p:spPr>
          <a:xfrm>
            <a:off x="640080" y="1883664"/>
            <a:ext cx="8869680" cy="402336"/>
          </a:xfrm>
          <a:prstGeom prst="roundRect">
            <a:avLst>
              <a:gd name="adj" fmla="val 20455"/>
            </a:avLst>
          </a:prstGeom>
          <a:solidFill>
            <a:srgbClr val="F5F7FA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914400" y="1883664"/>
            <a:ext cx="3017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45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siros-demo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3931920" y="1883664"/>
            <a:ext cx="1463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276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LoTE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5394960" y="1883664"/>
            <a:ext cx="4297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6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scheme — SIROS Identity Credential Issuer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914400" y="2340864"/>
            <a:ext cx="3017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45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siros-demo-lotl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3931920" y="2340864"/>
            <a:ext cx="1463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276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LoTL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5394960" y="2340864"/>
            <a:ext cx="4297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6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 of trusted lists, pointing at the demo LoTE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640080" y="2798064"/>
            <a:ext cx="8869680" cy="402336"/>
          </a:xfrm>
          <a:prstGeom prst="roundRect">
            <a:avLst>
              <a:gd name="adj" fmla="val 20455"/>
            </a:avLst>
          </a:prstGeom>
          <a:solidFill>
            <a:srgbClr val="F5F7FA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914400" y="2798064"/>
            <a:ext cx="3017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45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multipaz.org</a:t>
            </a:r>
            <a:endParaRPr lang="en-US" sz="1150" dirty="0"/>
          </a:p>
        </p:txBody>
      </p:sp>
      <p:sp>
        <p:nvSpPr>
          <p:cNvPr id="17" name="Text 14"/>
          <p:cNvSpPr/>
          <p:nvPr/>
        </p:nvSpPr>
        <p:spPr>
          <a:xfrm>
            <a:off x="3931920" y="2798064"/>
            <a:ext cx="1463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276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LoTE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5394960" y="2798064"/>
            <a:ext cx="4297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6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Verifier entity for the multipaz.org ecosystem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914400" y="3255264"/>
            <a:ext cx="3017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45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digital-credentials.dev</a:t>
            </a:r>
            <a:endParaRPr lang="en-US" sz="1150" dirty="0"/>
          </a:p>
        </p:txBody>
      </p:sp>
      <p:sp>
        <p:nvSpPr>
          <p:cNvPr id="20" name="Text 17"/>
          <p:cNvSpPr/>
          <p:nvPr/>
        </p:nvSpPr>
        <p:spPr>
          <a:xfrm>
            <a:off x="3931920" y="3255264"/>
            <a:ext cx="1463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276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LoTE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5394960" y="3255264"/>
            <a:ext cx="4297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6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Verifier entity for digital-credentials.dev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640080" y="3712464"/>
            <a:ext cx="8869680" cy="402336"/>
          </a:xfrm>
          <a:prstGeom prst="roundRect">
            <a:avLst>
              <a:gd name="adj" fmla="val 20455"/>
            </a:avLst>
          </a:prstGeom>
          <a:solidFill>
            <a:srgbClr val="F5F7FA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914400" y="3712464"/>
            <a:ext cx="3017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45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siros-multipaz-verifier</a:t>
            </a:r>
            <a:endParaRPr lang="en-US" sz="1150" dirty="0"/>
          </a:p>
        </p:txBody>
      </p:sp>
      <p:sp>
        <p:nvSpPr>
          <p:cNvPr id="24" name="Text 21"/>
          <p:cNvSpPr/>
          <p:nvPr/>
        </p:nvSpPr>
        <p:spPr>
          <a:xfrm>
            <a:off x="3931920" y="3712464"/>
            <a:ext cx="1463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276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LoTE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5394960" y="3712464"/>
            <a:ext cx="4297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6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SIROS-hosted multipaz-ppid verifier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914400" y="4169664"/>
            <a:ext cx="3017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45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ewc-demo</a:t>
            </a:r>
            <a:endParaRPr lang="en-US" sz="1150" dirty="0"/>
          </a:p>
        </p:txBody>
      </p:sp>
      <p:sp>
        <p:nvSpPr>
          <p:cNvPr id="27" name="Text 24"/>
          <p:cNvSpPr/>
          <p:nvPr/>
        </p:nvSpPr>
        <p:spPr>
          <a:xfrm>
            <a:off x="3931920" y="4169664"/>
            <a:ext cx="1463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276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TSL → LoTE</a:t>
            </a:r>
            <a:endParaRPr lang="en-US" sz="1100" dirty="0"/>
          </a:p>
        </p:txBody>
      </p:sp>
      <p:sp>
        <p:nvSpPr>
          <p:cNvPr id="28" name="Text 25"/>
          <p:cNvSpPr/>
          <p:nvPr/>
        </p:nvSpPr>
        <p:spPr>
          <a:xfrm>
            <a:off x="5394960" y="4169664"/>
            <a:ext cx="4297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6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EWC Consortium demo — 17 trust service providers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9747504" y="1517904"/>
            <a:ext cx="1810512" cy="3108960"/>
          </a:xfrm>
          <a:prstGeom prst="roundRect">
            <a:avLst>
              <a:gd name="adj" fmla="val 4545"/>
            </a:avLst>
          </a:prstGeom>
          <a:solidFill>
            <a:srgbClr val="EDF2F9"/>
          </a:solidFill>
          <a:ln w="12700">
            <a:solidFill>
              <a:srgbClr val="EDF2F9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9966960" y="166420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276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list</a:t>
            </a:r>
            <a:endParaRPr lang="en-US" sz="1050" dirty="0"/>
          </a:p>
        </p:txBody>
      </p:sp>
      <p:sp>
        <p:nvSpPr>
          <p:cNvPr id="31" name="Text 28"/>
          <p:cNvSpPr/>
          <p:nvPr/>
        </p:nvSpPr>
        <p:spPr>
          <a:xfrm>
            <a:off x="9966960" y="1975104"/>
            <a:ext cx="148132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556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.json  unsigned</a:t>
            </a:r>
            <a:endParaRPr lang="en-US" sz="105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556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.json.jws  signed</a:t>
            </a:r>
            <a:endParaRPr lang="en-US" sz="105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556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.xml  XML form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9966960" y="3566160"/>
            <a:ext cx="14813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Plus a generated index.html landing page listing every artefact.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640080" y="4809744"/>
            <a:ext cx="10917936" cy="822960"/>
          </a:xfrm>
          <a:prstGeom prst="roundRect">
            <a:avLst>
              <a:gd name="adj" fmla="val 10000"/>
            </a:avLst>
          </a:prstGeom>
          <a:solidFill>
            <a:srgbClr val="DCE5F2"/>
          </a:solidFill>
          <a:ln w="12700">
            <a:solidFill>
              <a:srgbClr val="DCE5F2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914400" y="4809744"/>
            <a:ext cx="10332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6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Distribution points are stable URLs — </a:t>
            </a:r>
            <a:pPr indent="0" marL="0">
              <a:buNone/>
            </a:pPr>
            <a:r>
              <a:rPr lang="en-US" sz="115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https://trust.siros.org/&lt;instance&gt;.json</a:t>
            </a:r>
            <a:pPr indent="0" marL="0">
              <a:buNone/>
            </a:pPr>
            <a:r>
              <a:rPr lang="en-US" sz="1150" dirty="0">
                <a:solidFill>
                  <a:srgbClr val="556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served from GitHub Pages and referenced from the scheme metadata itself.</a:t>
            </a:r>
            <a:endParaRPr lang="en-US" sz="1150" dirty="0"/>
          </a:p>
        </p:txBody>
      </p:sp>
      <p:sp>
        <p:nvSpPr>
          <p:cNvPr id="35" name="Text 32"/>
          <p:cNvSpPr/>
          <p:nvPr/>
        </p:nvSpPr>
        <p:spPr>
          <a:xfrm>
            <a:off x="640080" y="6291072"/>
            <a:ext cx="877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trust.siros.org</a:t>
            </a:r>
            <a:endParaRPr lang="en-US" sz="950" dirty="0"/>
          </a:p>
        </p:txBody>
      </p:sp>
      <p:sp>
        <p:nvSpPr>
          <p:cNvPr id="36" name="Text 33"/>
          <p:cNvSpPr/>
          <p:nvPr/>
        </p:nvSpPr>
        <p:spPr>
          <a:xfrm>
            <a:off x="11002975" y="62910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iros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59975" y="310896"/>
            <a:ext cx="1691640" cy="564185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384048"/>
            <a:ext cx="6949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C276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TO END</a:t>
            </a:r>
            <a:endParaRPr lang="en-US" sz="1150" dirty="0"/>
          </a:p>
        </p:txBody>
      </p:sp>
      <p:sp>
        <p:nvSpPr>
          <p:cNvPr id="4" name="Text 1"/>
          <p:cNvSpPr/>
          <p:nvPr/>
        </p:nvSpPr>
        <p:spPr>
          <a:xfrm>
            <a:off x="640080" y="676656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1C458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pull request to trust anchor</a:t>
            </a:r>
            <a:endParaRPr lang="en-US" sz="3100" dirty="0"/>
          </a:p>
        </p:txBody>
      </p:sp>
      <p:sp>
        <p:nvSpPr>
          <p:cNvPr id="5" name="Shape 2"/>
          <p:cNvSpPr/>
          <p:nvPr/>
        </p:nvSpPr>
        <p:spPr>
          <a:xfrm>
            <a:off x="640080" y="1536192"/>
            <a:ext cx="3493008" cy="1645920"/>
          </a:xfrm>
          <a:prstGeom prst="roundRect">
            <a:avLst>
              <a:gd name="adj" fmla="val 5000"/>
            </a:avLst>
          </a:prstGeom>
          <a:solidFill>
            <a:srgbClr val="EDF2F9"/>
          </a:solidFill>
          <a:ln w="12700">
            <a:solidFill>
              <a:srgbClr val="EDF2F9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14400" y="1773936"/>
            <a:ext cx="420624" cy="420624"/>
          </a:xfrm>
          <a:prstGeom prst="ellipse">
            <a:avLst/>
          </a:prstGeom>
          <a:solidFill>
            <a:srgbClr val="1C4587"/>
          </a:solidFill>
          <a:ln w="12700">
            <a:solidFill>
              <a:srgbClr val="1C4587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914400" y="17739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1463040" y="1792224"/>
            <a:ext cx="2514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C45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 request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914400" y="2322576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6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entity is added, amended or withdrawn under lists/.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352544" y="1536192"/>
            <a:ext cx="3493008" cy="1645920"/>
          </a:xfrm>
          <a:prstGeom prst="roundRect">
            <a:avLst>
              <a:gd name="adj" fmla="val 5000"/>
            </a:avLst>
          </a:prstGeom>
          <a:solidFill>
            <a:srgbClr val="EDF2F9"/>
          </a:solidFill>
          <a:ln w="12700">
            <a:solidFill>
              <a:srgbClr val="EDF2F9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626864" y="1773936"/>
            <a:ext cx="420624" cy="420624"/>
          </a:xfrm>
          <a:prstGeom prst="ellipse">
            <a:avLst/>
          </a:prstGeom>
          <a:solidFill>
            <a:srgbClr val="1C4587"/>
          </a:solidFill>
          <a:ln w="12700">
            <a:solidFill>
              <a:srgbClr val="1C4587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626864" y="17739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5175504" y="1792224"/>
            <a:ext cx="2514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C45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4626864" y="2322576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6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 runs each pipeline with tsl-tool; malformed data never merges.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8065008" y="1536192"/>
            <a:ext cx="3493008" cy="1645920"/>
          </a:xfrm>
          <a:prstGeom prst="roundRect">
            <a:avLst>
              <a:gd name="adj" fmla="val 5000"/>
            </a:avLst>
          </a:prstGeom>
          <a:solidFill>
            <a:srgbClr val="EDF2F9"/>
          </a:solidFill>
          <a:ln w="12700">
            <a:solidFill>
              <a:srgbClr val="EDF2F9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8339328" y="1773936"/>
            <a:ext cx="420624" cy="420624"/>
          </a:xfrm>
          <a:prstGeom prst="ellipse">
            <a:avLst/>
          </a:prstGeom>
          <a:solidFill>
            <a:srgbClr val="1C4587"/>
          </a:solidFill>
          <a:ln w="12700">
            <a:solidFill>
              <a:srgbClr val="1C4587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8339328" y="17739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8887968" y="1792224"/>
            <a:ext cx="2514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C45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&amp; merge</a:t>
            </a:r>
            <a:endParaRPr lang="en-US" sz="1450" dirty="0"/>
          </a:p>
        </p:txBody>
      </p:sp>
      <p:sp>
        <p:nvSpPr>
          <p:cNvPr id="19" name="Text 16"/>
          <p:cNvSpPr/>
          <p:nvPr/>
        </p:nvSpPr>
        <p:spPr>
          <a:xfrm>
            <a:off x="8339328" y="2322576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6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maintainer approves; main becomes the new state of the world.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640080" y="3410712"/>
            <a:ext cx="3493008" cy="1645920"/>
          </a:xfrm>
          <a:prstGeom prst="roundRect">
            <a:avLst>
              <a:gd name="adj" fmla="val 5000"/>
            </a:avLst>
          </a:prstGeom>
          <a:solidFill>
            <a:srgbClr val="DCE5F2"/>
          </a:solidFill>
          <a:ln w="12700">
            <a:solidFill>
              <a:srgbClr val="DCE5F2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914400" y="3648456"/>
            <a:ext cx="420624" cy="420624"/>
          </a:xfrm>
          <a:prstGeom prst="ellipse">
            <a:avLst/>
          </a:prstGeom>
          <a:solidFill>
            <a:srgbClr val="1C4587"/>
          </a:solidFill>
          <a:ln w="12700">
            <a:solidFill>
              <a:srgbClr val="1C4587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914400" y="3648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1463040" y="3666744"/>
            <a:ext cx="2514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C45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&amp; sign</a:t>
            </a:r>
            <a:endParaRPr lang="en-US" sz="1450" dirty="0"/>
          </a:p>
        </p:txBody>
      </p:sp>
      <p:sp>
        <p:nvSpPr>
          <p:cNvPr id="24" name="Text 21"/>
          <p:cNvSpPr/>
          <p:nvPr/>
        </p:nvSpPr>
        <p:spPr>
          <a:xfrm>
            <a:off x="914400" y="4197096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6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Pipelines regenerate every list and sign via PKCS#11 — JWS or XAdES.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4352544" y="3410712"/>
            <a:ext cx="3493008" cy="1645920"/>
          </a:xfrm>
          <a:prstGeom prst="roundRect">
            <a:avLst>
              <a:gd name="adj" fmla="val 5000"/>
            </a:avLst>
          </a:prstGeom>
          <a:solidFill>
            <a:srgbClr val="DCE5F2"/>
          </a:solidFill>
          <a:ln w="12700">
            <a:solidFill>
              <a:srgbClr val="DCE5F2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4626864" y="3648456"/>
            <a:ext cx="420624" cy="420624"/>
          </a:xfrm>
          <a:prstGeom prst="ellipse">
            <a:avLst/>
          </a:prstGeom>
          <a:solidFill>
            <a:srgbClr val="1C4587"/>
          </a:solidFill>
          <a:ln w="12700">
            <a:solidFill>
              <a:srgbClr val="1C4587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4626864" y="3648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8" name="Text 25"/>
          <p:cNvSpPr/>
          <p:nvPr/>
        </p:nvSpPr>
        <p:spPr>
          <a:xfrm>
            <a:off x="5175504" y="3666744"/>
            <a:ext cx="2514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C45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</a:t>
            </a:r>
            <a:endParaRPr lang="en-US" sz="1450" dirty="0"/>
          </a:p>
        </p:txBody>
      </p:sp>
      <p:sp>
        <p:nvSpPr>
          <p:cNvPr id="29" name="Text 26"/>
          <p:cNvSpPr/>
          <p:nvPr/>
        </p:nvSpPr>
        <p:spPr>
          <a:xfrm>
            <a:off x="4626864" y="4197096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6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Artefacts and a fresh index deploy to GitHub Pages at trust.siros.org.</a:t>
            </a:r>
            <a:endParaRPr lang="en-US" sz="1150" dirty="0"/>
          </a:p>
        </p:txBody>
      </p:sp>
      <p:sp>
        <p:nvSpPr>
          <p:cNvPr id="30" name="Shape 27"/>
          <p:cNvSpPr/>
          <p:nvPr/>
        </p:nvSpPr>
        <p:spPr>
          <a:xfrm>
            <a:off x="8065008" y="3410712"/>
            <a:ext cx="3493008" cy="1645920"/>
          </a:xfrm>
          <a:prstGeom prst="roundRect">
            <a:avLst>
              <a:gd name="adj" fmla="val 5000"/>
            </a:avLst>
          </a:prstGeom>
          <a:solidFill>
            <a:srgbClr val="DCE5F2"/>
          </a:solidFill>
          <a:ln w="12700">
            <a:solidFill>
              <a:srgbClr val="DCE5F2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8339328" y="3648456"/>
            <a:ext cx="420624" cy="420624"/>
          </a:xfrm>
          <a:prstGeom prst="ellipse">
            <a:avLst/>
          </a:prstGeom>
          <a:solidFill>
            <a:srgbClr val="1C4587"/>
          </a:solidFill>
          <a:ln w="12700">
            <a:solidFill>
              <a:srgbClr val="1C4587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8339328" y="3648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33" name="Text 30"/>
          <p:cNvSpPr/>
          <p:nvPr/>
        </p:nvSpPr>
        <p:spPr>
          <a:xfrm>
            <a:off x="8887968" y="3666744"/>
            <a:ext cx="2514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C45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Consume</a:t>
            </a:r>
            <a:endParaRPr lang="en-US" sz="1450" dirty="0"/>
          </a:p>
        </p:txBody>
      </p:sp>
      <p:sp>
        <p:nvSpPr>
          <p:cNvPr id="34" name="Text 31"/>
          <p:cNvSpPr/>
          <p:nvPr/>
        </p:nvSpPr>
        <p:spPr>
          <a:xfrm>
            <a:off x="8339328" y="4197096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6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Wallets, verifiers and go-trust fetch the list and build a certificate pool.</a:t>
            </a:r>
            <a:endParaRPr lang="en-US" sz="1150" dirty="0"/>
          </a:p>
        </p:txBody>
      </p:sp>
      <p:sp>
        <p:nvSpPr>
          <p:cNvPr id="35" name="Text 32"/>
          <p:cNvSpPr/>
          <p:nvPr/>
        </p:nvSpPr>
        <p:spPr>
          <a:xfrm>
            <a:off x="4151376" y="1536192"/>
            <a:ext cx="219456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C45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36" name="Text 33"/>
          <p:cNvSpPr/>
          <p:nvPr/>
        </p:nvSpPr>
        <p:spPr>
          <a:xfrm>
            <a:off x="7863840" y="1536192"/>
            <a:ext cx="219456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C45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37" name="Text 34"/>
          <p:cNvSpPr/>
          <p:nvPr/>
        </p:nvSpPr>
        <p:spPr>
          <a:xfrm>
            <a:off x="4151376" y="3410712"/>
            <a:ext cx="219456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C45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38" name="Text 35"/>
          <p:cNvSpPr/>
          <p:nvPr/>
        </p:nvSpPr>
        <p:spPr>
          <a:xfrm>
            <a:off x="7863840" y="3410712"/>
            <a:ext cx="219456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C45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39" name="Text 36"/>
          <p:cNvSpPr/>
          <p:nvPr/>
        </p:nvSpPr>
        <p:spPr>
          <a:xfrm>
            <a:off x="640080" y="5230368"/>
            <a:ext cx="8778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C45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step in this chain is manual, and no step is unrecorded.</a:t>
            </a:r>
            <a:endParaRPr lang="en-US" sz="1300" dirty="0"/>
          </a:p>
        </p:txBody>
      </p:sp>
      <p:sp>
        <p:nvSpPr>
          <p:cNvPr id="40" name="Text 37"/>
          <p:cNvSpPr/>
          <p:nvPr/>
        </p:nvSpPr>
        <p:spPr>
          <a:xfrm>
            <a:off x="640080" y="6291072"/>
            <a:ext cx="877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Minutes from merge to a signed list on the public web.</a:t>
            </a:r>
            <a:endParaRPr lang="en-US" sz="950" dirty="0"/>
          </a:p>
        </p:txBody>
      </p:sp>
      <p:sp>
        <p:nvSpPr>
          <p:cNvPr id="41" name="Text 38"/>
          <p:cNvSpPr/>
          <p:nvPr/>
        </p:nvSpPr>
        <p:spPr>
          <a:xfrm>
            <a:off x="11002975" y="62910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iros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59975" y="310896"/>
            <a:ext cx="1691640" cy="564185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384048"/>
            <a:ext cx="6949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C276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SUMMARY</a:t>
            </a:r>
            <a:endParaRPr lang="en-US" sz="1150" dirty="0"/>
          </a:p>
        </p:txBody>
      </p:sp>
      <p:sp>
        <p:nvSpPr>
          <p:cNvPr id="4" name="Text 1"/>
          <p:cNvSpPr/>
          <p:nvPr/>
        </p:nvSpPr>
        <p:spPr>
          <a:xfrm>
            <a:off x="640080" y="676656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1C458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build it this way</a:t>
            </a:r>
            <a:endParaRPr lang="en-US" sz="3100" dirty="0"/>
          </a:p>
        </p:txBody>
      </p:sp>
      <p:sp>
        <p:nvSpPr>
          <p:cNvPr id="5" name="Shape 2"/>
          <p:cNvSpPr/>
          <p:nvPr/>
        </p:nvSpPr>
        <p:spPr>
          <a:xfrm>
            <a:off x="640080" y="1554480"/>
            <a:ext cx="402336" cy="402336"/>
          </a:xfrm>
          <a:prstGeom prst="ellipse">
            <a:avLst/>
          </a:prstGeom>
          <a:solidFill>
            <a:srgbClr val="1C4587"/>
          </a:solidFill>
          <a:ln w="12700">
            <a:solidFill>
              <a:srgbClr val="1C4587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40080" y="15544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1207008" y="1517904"/>
            <a:ext cx="4480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45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Standards first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1207008" y="1883664"/>
            <a:ext cx="4526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6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proprietary in the wire formats: ETSI TS 119 612 and TS 119 602, verifiable by any conforming implementation.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6126480" y="1554480"/>
            <a:ext cx="402336" cy="402336"/>
          </a:xfrm>
          <a:prstGeom prst="ellipse">
            <a:avLst/>
          </a:prstGeom>
          <a:solidFill>
            <a:srgbClr val="1C4587"/>
          </a:solidFill>
          <a:ln w="12700">
            <a:solidFill>
              <a:srgbClr val="1C458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126480" y="15544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6693408" y="1517904"/>
            <a:ext cx="4480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45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Auditable by construction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6693408" y="1883664"/>
            <a:ext cx="4526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6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 anchors live in reviewed YAML, not in a database somebody can edit quietly.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640080" y="3035808"/>
            <a:ext cx="402336" cy="402336"/>
          </a:xfrm>
          <a:prstGeom prst="ellipse">
            <a:avLst/>
          </a:prstGeom>
          <a:solidFill>
            <a:srgbClr val="1C4587"/>
          </a:solidFill>
          <a:ln w="12700">
            <a:solidFill>
              <a:srgbClr val="1C4587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40080" y="303580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1207008" y="2999232"/>
            <a:ext cx="4480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45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Hardware-backed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1207008" y="3364992"/>
            <a:ext cx="4526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6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PKCS#11 path from laptop to YubiHSM; the production key never leaves the token.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6126480" y="3035808"/>
            <a:ext cx="402336" cy="402336"/>
          </a:xfrm>
          <a:prstGeom prst="ellipse">
            <a:avLst/>
          </a:prstGeom>
          <a:solidFill>
            <a:srgbClr val="1C4587"/>
          </a:solidFill>
          <a:ln w="12700">
            <a:solidFill>
              <a:srgbClr val="1C4587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126480" y="303580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6693408" y="2999232"/>
            <a:ext cx="4480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45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Reusable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6693408" y="3364992"/>
            <a:ext cx="4526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6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g119612 is an independent BSD-2 library — the pipeline works for anyone's trust list, not just ours.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640080" y="4572000"/>
            <a:ext cx="10917936" cy="1097280"/>
          </a:xfrm>
          <a:prstGeom prst="roundRect">
            <a:avLst>
              <a:gd name="adj" fmla="val 7500"/>
            </a:avLst>
          </a:prstGeom>
          <a:solidFill>
            <a:srgbClr val="1C4587"/>
          </a:solidFill>
          <a:ln w="12700">
            <a:solidFill>
              <a:srgbClr val="1C4587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969264" y="4718304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40" kern="0" dirty="0">
                <a:solidFill>
                  <a:srgbClr val="9FBB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969264" y="5010912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trust.siros.org   ·   github.com/sirosfoundation/trust-lists   ·   github.com/sirosfoundation/g119612</a:t>
            </a:r>
            <a:endParaRPr lang="en-US" sz="1350" dirty="0"/>
          </a:p>
        </p:txBody>
      </p:sp>
      <p:sp>
        <p:nvSpPr>
          <p:cNvPr id="24" name="Text 21"/>
          <p:cNvSpPr/>
          <p:nvPr/>
        </p:nvSpPr>
        <p:spPr>
          <a:xfrm>
            <a:off x="640080" y="6291072"/>
            <a:ext cx="877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SIROS Foundation  ·  Stockholm  ·  info@siros.org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11002975" y="62910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SIROS Foundation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SIROS Trust Infrastructure</dc:title>
  <dc:subject>PptxGenJS Presentation</dc:subject>
  <dc:creator>SIROS Foundation</dc:creator>
  <cp:lastModifiedBy>SIROS Foundation</cp:lastModifiedBy>
  <cp:revision>1</cp:revision>
  <dcterms:created xsi:type="dcterms:W3CDTF">2026-08-25T06:33:52Z</dcterms:created>
  <dcterms:modified xsi:type="dcterms:W3CDTF">2026-08-25T06:33:52Z</dcterms:modified>
</cp:coreProperties>
</file>